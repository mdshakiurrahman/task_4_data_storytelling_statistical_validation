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rgbClr val="1AA69A"/>
            </a:solidFill>
            <a:ln>
              <a:solidFill>
                <a:srgbClr val="1AA69A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10905580.72</c:v>
                </c:pt>
                <c:pt idx="1">
                  <c:v>11511181.46</c:v>
                </c:pt>
                <c:pt idx="2">
                  <c:v>13059899.94</c:v>
                </c:pt>
                <c:pt idx="3">
                  <c:v>12222700.17</c:v>
                </c:pt>
                <c:pt idx="4">
                  <c:v>10984689.25</c:v>
                </c:pt>
                <c:pt idx="5">
                  <c:v>12912332.64</c:v>
                </c:pt>
                <c:pt idx="6">
                  <c:v>11746226.799999999</c:v>
                </c:pt>
                <c:pt idx="7">
                  <c:v>9448471.22</c:v>
                </c:pt>
                <c:pt idx="8">
                  <c:v>9179896.29</c:v>
                </c:pt>
                <c:pt idx="9">
                  <c:v>12500936.5</c:v>
                </c:pt>
                <c:pt idx="10">
                  <c:v>12627620.22</c:v>
                </c:pt>
                <c:pt idx="11">
                  <c:v>12299904.44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 Sales</c:v>
                </c:pt>
              </c:strCache>
            </c:strRef>
          </c:tx>
          <c:spPr>
            <a:solidFill>
              <a:srgbClr val="2D68C4"/>
            </a:solidFill>
            <a:ln>
              <a:solidFill>
                <a:srgbClr val="2D68C4"/>
              </a:solidFill>
            </a:ln>
          </c:spPr>
          <c:cat>
            <c:strRef>
              <c:f>Sheet1!$A$2:$A$6</c:f>
              <c:strCache>
                <c:ptCount val="5"/>
                <c:pt idx="0">
                  <c:v>Electronics</c:v>
                </c:pt>
                <c:pt idx="1">
                  <c:v>Education</c:v>
                </c:pt>
                <c:pt idx="2">
                  <c:v>Grocery</c:v>
                </c:pt>
                <c:pt idx="3">
                  <c:v>Furniture</c:v>
                </c:pt>
                <c:pt idx="4">
                  <c:v>Fashion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50778581.7</c:v>
                </c:pt>
                <c:pt idx="1">
                  <c:v>25031689.4</c:v>
                </c:pt>
                <c:pt idx="2">
                  <c:v>22231711.28</c:v>
                </c:pt>
                <c:pt idx="3">
                  <c:v>21521561.48</c:v>
                </c:pt>
                <c:pt idx="4">
                  <c:v>19835895.79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Sales</c:v>
                </c:pt>
              </c:strCache>
            </c:strRef>
          </c:tx>
          <c:spPr>
            <a:solidFill>
              <a:srgbClr val="1AA69A"/>
            </a:solidFill>
            <a:ln>
              <a:solidFill>
                <a:srgbClr val="1AA69A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10905580.72</c:v>
                </c:pt>
                <c:pt idx="1">
                  <c:v>11511181.46</c:v>
                </c:pt>
                <c:pt idx="2">
                  <c:v>13059899.94</c:v>
                </c:pt>
                <c:pt idx="3">
                  <c:v>12222700.17</c:v>
                </c:pt>
                <c:pt idx="4">
                  <c:v>10984689.25</c:v>
                </c:pt>
                <c:pt idx="5">
                  <c:v>12912332.64</c:v>
                </c:pt>
                <c:pt idx="6">
                  <c:v>11746226.799999999</c:v>
                </c:pt>
                <c:pt idx="7">
                  <c:v>9448471.22</c:v>
                </c:pt>
                <c:pt idx="8">
                  <c:v>9179896.29</c:v>
                </c:pt>
                <c:pt idx="9">
                  <c:v>12500936.5</c:v>
                </c:pt>
                <c:pt idx="10">
                  <c:v>12627620.22</c:v>
                </c:pt>
                <c:pt idx="11">
                  <c:v>12299904.44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Product Sales</c:v>
                </c:pt>
              </c:strCache>
            </c:strRef>
          </c:tx>
          <c:spPr>
            <a:solidFill>
              <a:srgbClr val="2D68C4"/>
            </a:solidFill>
            <a:ln>
              <a:solidFill>
                <a:srgbClr val="2D68C4"/>
              </a:solidFill>
            </a:ln>
          </c:spPr>
          <c:cat>
            <c:strRef>
              <c:f>Sheet1!$A$2:$A$7</c:f>
              <c:strCache>
                <c:ptCount val="6"/>
                <c:pt idx="0">
                  <c:v>Laptop</c:v>
                </c:pt>
                <c:pt idx="1">
                  <c:v>Mobile</c:v>
                </c:pt>
                <c:pt idx="2">
                  <c:v>Book</c:v>
                </c:pt>
                <c:pt idx="3">
                  <c:v>Rice</c:v>
                </c:pt>
                <c:pt idx="4">
                  <c:v>Chair</c:v>
                </c:pt>
                <c:pt idx="5">
                  <c:v>Shoes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25443008.51</c:v>
                </c:pt>
                <c:pt idx="1">
                  <c:v>25335573.19</c:v>
                </c:pt>
                <c:pt idx="2">
                  <c:v>25031689.4</c:v>
                </c:pt>
                <c:pt idx="3">
                  <c:v>22231711.28</c:v>
                </c:pt>
                <c:pt idx="4">
                  <c:v>21521561.48</c:v>
                </c:pt>
                <c:pt idx="5">
                  <c:v>19835895.79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869680" y="0"/>
            <a:ext cx="3319272" cy="6858000"/>
          </a:xfrm>
          <a:prstGeom prst="rect">
            <a:avLst/>
          </a:prstGeom>
          <a:solidFill>
            <a:srgbClr val="2D68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38360" y="0"/>
            <a:ext cx="2450592" cy="6858000"/>
          </a:xfrm>
          <a:prstGeom prst="rect">
            <a:avLst/>
          </a:prstGeom>
          <a:solidFill>
            <a:srgbClr val="1A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0"/>
            <a:ext cx="1673352" cy="6858000"/>
          </a:xfrm>
          <a:prstGeom prst="rect">
            <a:avLst/>
          </a:prstGeom>
          <a:solidFill>
            <a:srgbClr val="F2B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89720" cy="6858000"/>
          </a:xfrm>
          <a:prstGeom prst="rect">
            <a:avLst/>
          </a:prstGeom>
          <a:solidFill>
            <a:srgbClr val="12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31520"/>
            <a:ext cx="7772400" cy="3657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400" b="1" i="0">
                <a:solidFill>
                  <a:srgbClr val="1AA69A"/>
                </a:solidFill>
                <a:latin typeface="Aptos"/>
              </a:rPr>
              <a:t>APEXPLANET SOFTWARE PVT. LTD.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7772400" cy="14630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ptos"/>
              </a:rPr>
              <a:t>Data Storytelling
&amp; Statistical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7132320" cy="6400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800" b="0" i="0">
                <a:solidFill>
                  <a:srgbClr val="D7E1F0"/>
                </a:solidFill>
                <a:latin typeface="Aptos"/>
              </a:rPr>
              <a:t>From sales data to evidence-based business action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74920"/>
            <a:ext cx="7132320" cy="3657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Prepared by: MD Shakiur Rahman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577840"/>
            <a:ext cx="7132320" cy="3200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200" b="0" i="0">
                <a:solidFill>
                  <a:srgbClr val="BECDE1"/>
                </a:solidFill>
                <a:latin typeface="Aptos"/>
              </a:rPr>
              <a:t>Data Analytics Internship  |  Task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3035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2700" b="1" i="0">
                <a:solidFill>
                  <a:srgbClr val="12203A"/>
                </a:solidFill>
                <a:latin typeface="Aptos"/>
              </a:rPr>
              <a:t>1. Business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100" b="0" i="0">
                <a:solidFill>
                  <a:srgbClr val="677488"/>
                </a:solidFill>
                <a:latin typeface="Aptos"/>
              </a:rPr>
              <a:t>The business question: where should we focus to improve sales performance?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25296"/>
            <a:ext cx="960120" cy="50292"/>
          </a:xfrm>
          <a:prstGeom prst="rect">
            <a:avLst/>
          </a:prstGeom>
          <a:solidFill>
            <a:srgbClr val="1A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/>
            <a:r>
              <a:rPr sz="900" b="0" i="0">
                <a:solidFill>
                  <a:srgbClr val="677488"/>
                </a:solidFill>
                <a:latin typeface="Apto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10698480" cy="8229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2100" b="1" i="0">
                <a:solidFill>
                  <a:srgbClr val="12203A"/>
                </a:solidFill>
                <a:latin typeface="Aptos"/>
              </a:rPr>
              <a:t>Understand sales performance, customer segments and revenue drivers, then identify actionable opportunities for business growth.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852928"/>
            <a:ext cx="3136392" cy="29260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400" b="1" i="0">
                <a:solidFill>
                  <a:srgbClr val="2D68C4"/>
                </a:solidFill>
                <a:latin typeface="Aptos"/>
              </a:rPr>
              <a:t>MEASURE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182112"/>
            <a:ext cx="3136392" cy="1362455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100" b="0" i="0">
                <a:solidFill>
                  <a:srgbClr val="273243"/>
                </a:solidFill>
                <a:latin typeface="Aptos"/>
              </a:rPr>
              <a:t>Track revenue, orders, average order value and quantity sold.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74320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2852928"/>
            <a:ext cx="3136392" cy="29260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400" b="1" i="0">
                <a:solidFill>
                  <a:srgbClr val="1AA69A"/>
                </a:solidFill>
                <a:latin typeface="Aptos"/>
              </a:rPr>
              <a:t>UNDERSTAND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3182112"/>
            <a:ext cx="3136392" cy="1362455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100" b="0" i="0">
                <a:solidFill>
                  <a:srgbClr val="273243"/>
                </a:solidFill>
                <a:latin typeface="Aptos"/>
              </a:rPr>
              <a:t>Compare products, categories, cities and customer groups.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2743200"/>
            <a:ext cx="342900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4" y="2852928"/>
            <a:ext cx="3136392" cy="29260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400" b="1" i="0">
                <a:solidFill>
                  <a:srgbClr val="F2B233"/>
                </a:solidFill>
                <a:latin typeface="Aptos"/>
              </a:rPr>
              <a:t>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4" y="3182112"/>
            <a:ext cx="3136392" cy="1362455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100" b="0" i="0">
                <a:solidFill>
                  <a:srgbClr val="273243"/>
                </a:solidFill>
                <a:latin typeface="Aptos"/>
              </a:rPr>
              <a:t>Prioritize evidence-backed actions and monitor results over 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49240"/>
            <a:ext cx="10515600" cy="6400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200" b="0" i="1">
                <a:solidFill>
                  <a:srgbClr val="677488"/>
                </a:solidFill>
                <a:latin typeface="Aptos"/>
              </a:rPr>
              <a:t>Scope: 1,000 transaction rows from the prepared sales dataset. Findings describe this dataset; they do not by themselves prove causation.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3035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2700" b="1" i="0">
                <a:solidFill>
                  <a:srgbClr val="12203A"/>
                </a:solidFill>
                <a:latin typeface="Aptos"/>
              </a:rPr>
              <a:t>2. Data Preparation &amp;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100" b="0" i="0">
                <a:solidFill>
                  <a:srgbClr val="677488"/>
                </a:solidFill>
                <a:latin typeface="Aptos"/>
              </a:rPr>
              <a:t>Task 1 — turn raw records into an analysis-ready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25296"/>
            <a:ext cx="960120" cy="50292"/>
          </a:xfrm>
          <a:prstGeom prst="rect">
            <a:avLst/>
          </a:prstGeom>
          <a:solidFill>
            <a:srgbClr val="1A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/>
            <a:r>
              <a:rPr sz="900" b="0" i="0">
                <a:solidFill>
                  <a:srgbClr val="677488"/>
                </a:solidFill>
                <a:latin typeface="Apto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72768"/>
            <a:ext cx="26517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82495"/>
            <a:ext cx="2359152" cy="29260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400" b="1" i="0">
                <a:solidFill>
                  <a:srgbClr val="2D68C4"/>
                </a:solidFill>
                <a:latin typeface="Aptos"/>
              </a:rP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011680"/>
            <a:ext cx="2359152" cy="859536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100" b="0" i="0">
                <a:solidFill>
                  <a:srgbClr val="273243"/>
                </a:solidFill>
                <a:latin typeface="Aptos"/>
              </a:rPr>
              <a:t>1,000 rows
12 original columns
+ Order_Month feature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572768"/>
            <a:ext cx="26517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75304" y="1682495"/>
            <a:ext cx="2359152" cy="29260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400" b="1" i="0">
                <a:solidFill>
                  <a:srgbClr val="1AA69A"/>
                </a:solidFill>
                <a:latin typeface="Aptos"/>
              </a:rPr>
              <a:t>MISSING VALUES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5304" y="2011680"/>
            <a:ext cx="2359152" cy="859536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100" b="0" i="0">
                <a:solidFill>
                  <a:srgbClr val="273243"/>
                </a:solidFill>
                <a:latin typeface="Aptos"/>
              </a:rPr>
              <a:t>Age: 20 missing
City: 13 missing
Handled with median/mode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572768"/>
            <a:ext cx="26517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4224" y="1682495"/>
            <a:ext cx="2359152" cy="29260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400" b="1" i="0">
                <a:solidFill>
                  <a:srgbClr val="F2B233"/>
                </a:solidFill>
                <a:latin typeface="Aptos"/>
              </a:rPr>
              <a:t>DATA TYPES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4224" y="2011680"/>
            <a:ext cx="2359152" cy="859536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100" b="0" i="0">
                <a:solidFill>
                  <a:srgbClr val="273243"/>
                </a:solidFill>
                <a:latin typeface="Aptos"/>
              </a:rPr>
              <a:t>Order_Date converted
from text to datetime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1572768"/>
            <a:ext cx="25146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53144" y="1682495"/>
            <a:ext cx="2221992" cy="29260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400" b="1" i="0">
                <a:solidFill>
                  <a:srgbClr val="CB4E4E"/>
                </a:solidFill>
                <a:latin typeface="Aptos"/>
              </a:rPr>
              <a:t>QUALITY CHECKS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53144" y="2011680"/>
            <a:ext cx="2221992" cy="859536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100" b="0" i="0">
                <a:solidFill>
                  <a:srgbClr val="273243"/>
                </a:solidFill>
                <a:latin typeface="Aptos"/>
              </a:rPr>
              <a:t>0 full-row duplicates
19 Total_Sales IQR flags
retained for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429000"/>
            <a:ext cx="10058400" cy="3657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700" b="1" i="0">
                <a:solidFill>
                  <a:srgbClr val="12203A"/>
                </a:solidFill>
                <a:latin typeface="Aptos"/>
              </a:rPr>
              <a:t>Cleaning decisions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840480"/>
            <a:ext cx="10332720" cy="1737360"/>
          </a:xfrm>
          <a:prstGeom prst="rect">
            <a:avLst/>
          </a:prstGeom>
          <a:noFill/>
        </p:spPr>
        <p:txBody>
          <a:bodyPr wrap="square" lIns="137160" tIns="36576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73243"/>
                </a:solidFill>
                <a:latin typeface="Aptos"/>
              </a:defRPr>
            </a:pPr>
            <a:r>
              <a:t>Missing Age values filled with the median; missing City values filled with the mode.</a:t>
            </a:r>
          </a:p>
          <a:p>
            <a:pPr>
              <a:spcAft>
                <a:spcPts val="900"/>
              </a:spcAft>
              <a:defRPr sz="1400">
                <a:solidFill>
                  <a:srgbClr val="273243"/>
                </a:solidFill>
                <a:latin typeface="Aptos"/>
              </a:defRPr>
            </a:pPr>
            <a:r>
              <a:t>Potential Total_Sales outliers were retained because unusually large transactions may be valid.</a:t>
            </a:r>
          </a:p>
          <a:p>
            <a:pPr>
              <a:spcAft>
                <a:spcPts val="900"/>
              </a:spcAft>
              <a:defRPr sz="1400">
                <a:solidFill>
                  <a:srgbClr val="273243"/>
                </a:solidFill>
                <a:latin typeface="Aptos"/>
              </a:defRPr>
            </a:pPr>
            <a:r>
              <a:t>Final validation reported zero missing values and zero full-row duplicates.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97880"/>
            <a:ext cx="10424160" cy="274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000" b="0" i="1">
                <a:solidFill>
                  <a:srgbClr val="677488"/>
                </a:solidFill>
                <a:latin typeface="Aptos"/>
              </a:rPr>
              <a:t>Note: duplicate Order_ID values are different from exact duplicate rows.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3035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2700" b="1" i="0">
                <a:solidFill>
                  <a:srgbClr val="12203A"/>
                </a:solidFill>
                <a:latin typeface="Aptos"/>
              </a:rPr>
              <a:t>3. Exploratory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100" b="0" i="0">
                <a:solidFill>
                  <a:srgbClr val="677488"/>
                </a:solidFill>
                <a:latin typeface="Aptos"/>
              </a:rPr>
              <a:t>Task 2 — compare revenue patterns across time, categories and markets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25296"/>
            <a:ext cx="960120" cy="50292"/>
          </a:xfrm>
          <a:prstGeom prst="rect">
            <a:avLst/>
          </a:prstGeom>
          <a:solidFill>
            <a:srgbClr val="1A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/>
            <a:r>
              <a:rPr sz="900" b="0" i="0">
                <a:solidFill>
                  <a:srgbClr val="677488"/>
                </a:solidFill>
                <a:latin typeface="Aptos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81328"/>
            <a:ext cx="32918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1591056"/>
            <a:ext cx="2999232" cy="29260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400" b="1" i="0">
                <a:solidFill>
                  <a:srgbClr val="2D68C4"/>
                </a:solidFill>
                <a:latin typeface="Aptos"/>
              </a:rPr>
              <a:t>REVENUE TREND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1920240"/>
            <a:ext cx="2999232" cy="585215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100" b="0" i="0">
                <a:solidFill>
                  <a:srgbClr val="273243"/>
                </a:solidFill>
                <a:latin typeface="Aptos"/>
              </a:rPr>
              <a:t>Use monthly totals to spot peaks, dips and seasonality.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81328"/>
            <a:ext cx="32918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81144" y="1591056"/>
            <a:ext cx="2999232" cy="29260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400" b="1" i="0">
                <a:solidFill>
                  <a:srgbClr val="1AA69A"/>
                </a:solidFill>
                <a:latin typeface="Aptos"/>
              </a:rPr>
              <a:t>CATEGORY MIX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1144" y="1920240"/>
            <a:ext cx="2999232" cy="585215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100" b="0" i="0">
                <a:solidFill>
                  <a:srgbClr val="273243"/>
                </a:solidFill>
                <a:latin typeface="Aptos"/>
              </a:rPr>
              <a:t>Compare category contribution to total sales.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81328"/>
            <a:ext cx="329184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3" y="1591056"/>
            <a:ext cx="2999232" cy="29260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400" b="1" i="0">
                <a:solidFill>
                  <a:srgbClr val="F2B233"/>
                </a:solidFill>
                <a:latin typeface="Aptos"/>
              </a:rPr>
              <a:t>PRODUCT &amp; 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0183" y="1920240"/>
            <a:ext cx="2999232" cy="585215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100" b="0" i="0">
                <a:solidFill>
                  <a:srgbClr val="273243"/>
                </a:solidFill>
                <a:latin typeface="Aptos"/>
              </a:rPr>
              <a:t>Rank products and cities by revenue.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731520" y="2880360"/>
          <a:ext cx="521208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6217920" y="2880360"/>
          <a:ext cx="5166360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822960" y="5650992"/>
            <a:ext cx="10515600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000" b="0">
                <a:solidFill>
                  <a:srgbClr val="273243"/>
                </a:solidFill>
              </a:rPr>
              <a:t>Actual results from the cleaned 2025 dataset. Revenue values are shown in transaction currency units.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3035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2700" b="1" i="0">
                <a:solidFill>
                  <a:srgbClr val="12203A"/>
                </a:solidFill>
                <a:latin typeface="Aptos"/>
              </a:rPr>
              <a:t>4. Deep-Dive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100" b="0" i="0">
                <a:solidFill>
                  <a:srgbClr val="677488"/>
                </a:solidFill>
                <a:latin typeface="Aptos"/>
              </a:rPr>
              <a:t>Task 3 — customer segmentation and revenue contribution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25296"/>
            <a:ext cx="960120" cy="50292"/>
          </a:xfrm>
          <a:prstGeom prst="rect">
            <a:avLst/>
          </a:prstGeom>
          <a:solidFill>
            <a:srgbClr val="1A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/>
            <a:r>
              <a:rPr sz="900" b="0" i="0">
                <a:solidFill>
                  <a:srgbClr val="677488"/>
                </a:solidFill>
                <a:latin typeface="Aptos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5029200" cy="3657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700" b="1" i="0">
                <a:solidFill>
                  <a:srgbClr val="1AA69A"/>
                </a:solidFill>
                <a:latin typeface="Aptos"/>
              </a:rPr>
              <a:t>CUSTOMER SEGMENTATION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38528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048256"/>
            <a:ext cx="2953512" cy="29260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400" b="1" i="0">
                <a:solidFill>
                  <a:srgbClr val="2D68C4"/>
                </a:solidFill>
                <a:latin typeface="Aptos"/>
              </a:rPr>
              <a:t>HIGH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377440"/>
            <a:ext cx="2953512" cy="813815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t>340 customers; total sales 92.74M.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938528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06824" y="2048256"/>
            <a:ext cx="2953512" cy="29260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400" b="1" i="0">
                <a:solidFill>
                  <a:srgbClr val="1AA69A"/>
                </a:solidFill>
                <a:latin typeface="Aptos"/>
              </a:rPr>
              <a:t>MEDIUM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6824" y="2377440"/>
            <a:ext cx="2953512" cy="813815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t>330 customers; total sales 36.48M.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89520" y="1938528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35824" y="2048256"/>
            <a:ext cx="2953512" cy="29260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400" b="1" i="0">
                <a:solidFill>
                  <a:srgbClr val="F2B233"/>
                </a:solidFill>
                <a:latin typeface="Aptos"/>
              </a:rPr>
              <a:t>LOW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35824" y="2377440"/>
            <a:ext cx="2953512" cy="813815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t>330 customers; total sales 10.18M.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611880"/>
            <a:ext cx="5120640" cy="3657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700" b="1" i="0">
                <a:solidFill>
                  <a:srgbClr val="12203A"/>
                </a:solidFill>
                <a:latin typeface="Aptos"/>
              </a:rPr>
              <a:t>WHAT THE DEEP-DIVE ADDS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023360"/>
            <a:ext cx="10241280" cy="1508760"/>
          </a:xfrm>
          <a:prstGeom prst="rect">
            <a:avLst/>
          </a:prstGeom>
          <a:noFill/>
        </p:spPr>
        <p:txBody>
          <a:bodyPr wrap="square" lIns="137160" tIns="36576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73243"/>
                </a:solidFill>
                <a:latin typeface="Aptos"/>
              </a:defRPr>
            </a:pPr>
            <a:r>
              <a:t>Ranks customer-level revenue to identify customers contributing more sales.</a:t>
            </a:r>
          </a:p>
          <a:p>
            <a:pPr>
              <a:spcAft>
                <a:spcPts val="900"/>
              </a:spcAft>
              <a:defRPr sz="1400">
                <a:solidFill>
                  <a:srgbClr val="273243"/>
                </a:solidFill>
                <a:latin typeface="Aptos"/>
              </a:defRPr>
            </a:pPr>
            <a:r>
              <a:t>Compares product, category, city, gender and age-group patterns.</a:t>
            </a:r>
          </a:p>
          <a:p>
            <a:pPr>
              <a:spcAft>
                <a:spcPts val="900"/>
              </a:spcAft>
              <a:defRPr sz="1400">
                <a:solidFill>
                  <a:srgbClr val="273243"/>
                </a:solidFill>
                <a:latin typeface="Aptos"/>
              </a:defRPr>
            </a:pPr>
            <a:r>
              <a:t>Supports targeted follow-up, but segment labels are relative to this dataset.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70448"/>
            <a:ext cx="10515600" cy="3200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t>Customer-level sales grouped 947 unique customers into relative value bands.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3035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2700" b="1" i="0">
                <a:solidFill>
                  <a:srgbClr val="12203A"/>
                </a:solidFill>
                <a:latin typeface="Aptos"/>
              </a:rPr>
              <a:t>5. Interactive Power BI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100" b="0" i="0">
                <a:solidFill>
                  <a:srgbClr val="677488"/>
                </a:solidFill>
                <a:latin typeface="Aptos"/>
              </a:rPr>
              <a:t>A monitoring view for decision-makers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25296"/>
            <a:ext cx="960120" cy="50292"/>
          </a:xfrm>
          <a:prstGeom prst="rect">
            <a:avLst/>
          </a:prstGeom>
          <a:solidFill>
            <a:srgbClr val="1A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/>
            <a:r>
              <a:rPr sz="900" b="0" i="0">
                <a:solidFill>
                  <a:srgbClr val="677488"/>
                </a:solidFill>
                <a:latin typeface="Aptos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73152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72768"/>
            <a:ext cx="6858000" cy="3200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/>
            <a:r>
              <a:rPr sz="1400" b="1" i="0">
                <a:solidFill>
                  <a:srgbClr val="12203A"/>
                </a:solidFill>
                <a:latin typeface="Aptos"/>
              </a:rPr>
              <a:t>SALES &amp; CUSTOMER ANALYTICS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1993392"/>
            <a:ext cx="15087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14983" y="2103120"/>
            <a:ext cx="1216151" cy="29260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400" b="1" i="0">
                <a:solidFill>
                  <a:srgbClr val="2D68C4"/>
                </a:solidFill>
                <a:latin typeface="Aptos"/>
              </a:rPr>
              <a:t>Revenue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983" y="2432304"/>
            <a:ext cx="1216151" cy="292607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200" b="0">
                <a:solidFill>
                  <a:srgbClr val="273243"/>
                </a:solidFill>
              </a:rPr>
              <a:t>₹139.40M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9464" y="1993392"/>
            <a:ext cx="15087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15768" y="2103120"/>
            <a:ext cx="1216151" cy="29260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400" b="1" i="0">
                <a:solidFill>
                  <a:srgbClr val="1AA69A"/>
                </a:solidFill>
                <a:latin typeface="Aptos"/>
              </a:rPr>
              <a:t>Orders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5768" y="2432304"/>
            <a:ext cx="1216151" cy="292607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200" b="0">
                <a:solidFill>
                  <a:srgbClr val="273243"/>
                </a:solidFill>
              </a:rPr>
              <a:t>992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0248" y="1993392"/>
            <a:ext cx="15087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6552" y="2103120"/>
            <a:ext cx="1216151" cy="29260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400" b="1" i="0">
                <a:solidFill>
                  <a:srgbClr val="F2B233"/>
                </a:solidFill>
                <a:latin typeface="Aptos"/>
              </a:rPr>
              <a:t>AOV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2432304"/>
            <a:ext cx="1216151" cy="292607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200" b="0">
                <a:solidFill>
                  <a:srgbClr val="273243"/>
                </a:solidFill>
              </a:rPr>
              <a:t>₹140.5K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71032" y="1993392"/>
            <a:ext cx="150876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17336" y="2103120"/>
            <a:ext cx="1216151" cy="29260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400" b="1" i="0">
                <a:solidFill>
                  <a:srgbClr val="CB4E4E"/>
                </a:solidFill>
                <a:latin typeface="Aptos"/>
              </a:rPr>
              <a:t>Quantity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17336" y="2432304"/>
            <a:ext cx="1216151" cy="292607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200" b="0">
                <a:solidFill>
                  <a:srgbClr val="273243"/>
                </a:solidFill>
              </a:rPr>
              <a:t>₹139.40M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914400" y="2971800"/>
          <a:ext cx="3108960" cy="1508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4251960" y="2971800"/>
          <a:ext cx="3154680" cy="1508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914400" y="4800600"/>
            <a:ext cx="6675120" cy="3657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/>
            <a:r>
              <a:rPr sz="1200" b="1">
                <a:solidFill>
                  <a:srgbClr val="1AA69A"/>
                </a:solidFill>
              </a:rPr>
              <a:t>Filters: Category  |  City  |  Gender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1645920"/>
            <a:ext cx="2926080" cy="3657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700" b="1" i="0">
                <a:solidFill>
                  <a:srgbClr val="12203A"/>
                </a:solidFill>
                <a:latin typeface="Aptos"/>
              </a:rPr>
              <a:t>HOW IT HELPS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103120"/>
            <a:ext cx="3017520" cy="3200400"/>
          </a:xfrm>
          <a:prstGeom prst="rect">
            <a:avLst/>
          </a:prstGeom>
          <a:noFill/>
        </p:spPr>
        <p:txBody>
          <a:bodyPr wrap="square" lIns="137160" tIns="36576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73243"/>
                </a:solidFill>
                <a:latin typeface="Aptos"/>
              </a:defRPr>
            </a:pPr>
            <a:r>
              <a:t>Monitor core KPIs in one place.</a:t>
            </a:r>
          </a:p>
          <a:p>
            <a:pPr>
              <a:spcAft>
                <a:spcPts val="900"/>
              </a:spcAft>
              <a:defRPr sz="1400">
                <a:solidFill>
                  <a:srgbClr val="273243"/>
                </a:solidFill>
                <a:latin typeface="Aptos"/>
              </a:defRPr>
            </a:pPr>
            <a:r>
              <a:t>Filter results by category, city and gender.</a:t>
            </a:r>
          </a:p>
          <a:p>
            <a:pPr>
              <a:spcAft>
                <a:spcPts val="900"/>
              </a:spcAft>
              <a:defRPr sz="1400">
                <a:solidFill>
                  <a:srgbClr val="273243"/>
                </a:solidFill>
                <a:latin typeface="Aptos"/>
              </a:defRPr>
            </a:pPr>
            <a:r>
              <a:t>Compare product and time-based performance.</a:t>
            </a:r>
          </a:p>
          <a:p>
            <a:pPr>
              <a:spcAft>
                <a:spcPts val="900"/>
              </a:spcAft>
              <a:defRPr sz="1400">
                <a:solidFill>
                  <a:srgbClr val="273243"/>
                </a:solidFill>
                <a:latin typeface="Aptos"/>
              </a:defRPr>
            </a:pPr>
            <a:r>
              <a:t>Track changes using the same dashboard regularly.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035040"/>
            <a:ext cx="10515600" cy="2286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000" b="0">
                <a:solidFill>
                  <a:srgbClr val="273243"/>
                </a:solidFill>
              </a:rPr>
              <a:t>Data-based dashboard mock-up built from the cleaned dataset; not a screenshot of the Power BI file.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3035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2700" b="1" i="0">
                <a:solidFill>
                  <a:srgbClr val="12203A"/>
                </a:solidFill>
                <a:latin typeface="Aptos"/>
              </a:rPr>
              <a:t>6. Hypothesis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100" b="0" i="0">
                <a:solidFill>
                  <a:srgbClr val="677488"/>
                </a:solidFill>
                <a:latin typeface="Aptos"/>
              </a:rPr>
              <a:t>Test whether observed gender-group average sales differ beyond random variation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25296"/>
            <a:ext cx="960120" cy="50292"/>
          </a:xfrm>
          <a:prstGeom prst="rect">
            <a:avLst/>
          </a:prstGeom>
          <a:solidFill>
            <a:srgbClr val="1A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/>
            <a:r>
              <a:rPr sz="900" b="0" i="0">
                <a:solidFill>
                  <a:srgbClr val="677488"/>
                </a:solidFill>
                <a:latin typeface="Aptos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72768"/>
            <a:ext cx="5212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82495"/>
            <a:ext cx="4919472" cy="29260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400" b="1" i="0">
                <a:solidFill>
                  <a:srgbClr val="2D68C4"/>
                </a:solidFill>
                <a:latin typeface="Aptos"/>
              </a:rPr>
              <a:t>BUSINESS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011680"/>
            <a:ext cx="4919472" cy="813815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100" b="0" i="0">
                <a:solidFill>
                  <a:srgbClr val="273243"/>
                </a:solidFill>
                <a:latin typeface="Aptos"/>
              </a:rPr>
              <a:t>Do male and female customers have different average transaction sales?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72768"/>
            <a:ext cx="52120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64224" y="1682495"/>
            <a:ext cx="4919472" cy="29260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400" b="1" i="0">
                <a:solidFill>
                  <a:srgbClr val="1AA69A"/>
                </a:solidFill>
                <a:latin typeface="Aptos"/>
              </a:rPr>
              <a:t>STATISTICAL METHOD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2011680"/>
            <a:ext cx="4919472" cy="813815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100" b="0" i="0">
                <a:solidFill>
                  <a:srgbClr val="273243"/>
                </a:solidFill>
                <a:latin typeface="Aptos"/>
              </a:rPr>
              <a:t>Welch’s independent-samples t-test; two-sided; α = 0.05.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91840"/>
            <a:ext cx="5029200" cy="3657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700" b="1" i="0">
                <a:solidFill>
                  <a:srgbClr val="12203A"/>
                </a:solidFill>
                <a:latin typeface="Aptos"/>
              </a:rPr>
              <a:t>HYPOTHESES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730752"/>
            <a:ext cx="5120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" y="3840480"/>
            <a:ext cx="4828031" cy="29260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400" b="1" i="0">
                <a:solidFill>
                  <a:srgbClr val="2D68C4"/>
                </a:solidFill>
                <a:latin typeface="Aptos"/>
              </a:rPr>
              <a:t>H₀ — NULL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" y="4169664"/>
            <a:ext cx="4828031" cy="630936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100" b="0" i="0">
                <a:solidFill>
                  <a:srgbClr val="273243"/>
                </a:solidFill>
                <a:latin typeface="Aptos"/>
              </a:rPr>
              <a:t>The population mean sales values are equal for male and female groups.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30752"/>
            <a:ext cx="5120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64224" y="3840480"/>
            <a:ext cx="4828031" cy="29260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400" b="1" i="0">
                <a:solidFill>
                  <a:srgbClr val="F2B233"/>
                </a:solidFill>
                <a:latin typeface="Aptos"/>
              </a:rPr>
              <a:t>H₁ — ALTERNATIVE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64224" y="4169664"/>
            <a:ext cx="4828031" cy="630936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100" b="0" i="0">
                <a:solidFill>
                  <a:srgbClr val="273243"/>
                </a:solidFill>
                <a:latin typeface="Aptos"/>
              </a:rPr>
              <a:t>The population mean sales values are different between the two groups.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303520"/>
            <a:ext cx="10332720" cy="6400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300" b="0" i="0">
                <a:solidFill>
                  <a:srgbClr val="677488"/>
                </a:solidFill>
                <a:latin typeface="Aptos"/>
              </a:rPr>
              <a:t>Interpret the p-value against 0.05 and report a 95% confidence interval for the mean difference (Male − Female).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3035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2700" b="1" i="0">
                <a:solidFill>
                  <a:srgbClr val="12203A"/>
                </a:solidFill>
                <a:latin typeface="Aptos"/>
              </a:rPr>
              <a:t>7. Statistical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100" b="0">
                <a:solidFill>
                  <a:srgbClr val="677488"/>
                </a:solidFill>
              </a:rPr>
              <a:t>Welch two-sample t-test on 511 male and 489 female transaction rows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25296"/>
            <a:ext cx="960120" cy="50292"/>
          </a:xfrm>
          <a:prstGeom prst="rect">
            <a:avLst/>
          </a:prstGeom>
          <a:solidFill>
            <a:srgbClr val="1A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/>
            <a:r>
              <a:rPr sz="900" b="0" i="0">
                <a:solidFill>
                  <a:srgbClr val="677488"/>
                </a:solidFill>
                <a:latin typeface="Aptos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72768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82495"/>
            <a:ext cx="3136392" cy="29260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400" b="1" i="0">
                <a:solidFill>
                  <a:srgbClr val="2D68C4"/>
                </a:solidFill>
                <a:latin typeface="Aptos"/>
              </a:rPr>
              <a:t>MALE MEAN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011680"/>
            <a:ext cx="3136392" cy="722376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300" b="1">
                <a:solidFill>
                  <a:srgbClr val="273243"/>
                </a:solidFill>
              </a:rPr>
              <a:t>₹141,807.34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72768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1682495"/>
            <a:ext cx="3136392" cy="29260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400" b="1" i="0">
                <a:solidFill>
                  <a:srgbClr val="1AA69A"/>
                </a:solidFill>
                <a:latin typeface="Aptos"/>
              </a:rPr>
              <a:t>FEMALE MEAN 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011680"/>
            <a:ext cx="3136392" cy="722376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300" b="1">
                <a:solidFill>
                  <a:srgbClr val="273243"/>
                </a:solidFill>
              </a:rPr>
              <a:t>₹136,883.21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72768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3024" y="1682495"/>
            <a:ext cx="3136392" cy="29260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400" b="1" i="0">
                <a:solidFill>
                  <a:srgbClr val="F2B233"/>
                </a:solidFill>
                <a:latin typeface="Aptos"/>
              </a:rPr>
              <a:t>P-VALUE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4" y="2011680"/>
            <a:ext cx="3136392" cy="722376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300" b="1">
                <a:solidFill>
                  <a:srgbClr val="273243"/>
                </a:solidFill>
              </a:rPr>
              <a:t>0.495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15468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3264408"/>
            <a:ext cx="4965192" cy="29260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400" b="1" i="0">
                <a:solidFill>
                  <a:srgbClr val="2D68C4"/>
                </a:solidFill>
                <a:latin typeface="Aptos"/>
              </a:rPr>
              <a:t>MEAN DIFFERENCE (M − F)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3593592"/>
            <a:ext cx="4965192" cy="722376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300" b="1">
                <a:solidFill>
                  <a:srgbClr val="273243"/>
                </a:solidFill>
              </a:rPr>
              <a:t>₹4,924.13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15468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4" y="3264408"/>
            <a:ext cx="4965192" cy="29260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400" b="1" i="0">
                <a:solidFill>
                  <a:srgbClr val="1AA69A"/>
                </a:solidFill>
                <a:latin typeface="Aptos"/>
              </a:rPr>
              <a:t>95% CONFIDENCE INTERVAL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64224" y="3593592"/>
            <a:ext cx="4965192" cy="722376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300" b="1">
                <a:solidFill>
                  <a:srgbClr val="273243"/>
                </a:solidFill>
              </a:rPr>
              <a:t>₹-9,232 to ₹19,080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709160"/>
            <a:ext cx="10332720" cy="9601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200" b="0">
                <a:solidFill>
                  <a:srgbClr val="273243"/>
                </a:solidFill>
              </a:rPr>
              <a:t>Result: p = 0.495 (&gt; 0.05). Fail to reject H₀. The data does not provide sufficient evidence of a statistically significant difference in average transaction sales between male and female groups. The 95% CI for Male − Female is ₹-9,232 to ₹19,080.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897880"/>
            <a:ext cx="10332720" cy="274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000" b="1">
                <a:solidFill>
                  <a:srgbClr val="273243"/>
                </a:solidFill>
              </a:rPr>
              <a:t>Mean difference (Male − Female): ₹4,924.13 | t = 0.683 | p = 0.495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064240" cy="53035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2700" b="1" i="0">
                <a:solidFill>
                  <a:srgbClr val="12203A"/>
                </a:solidFill>
                <a:latin typeface="Aptos"/>
              </a:rPr>
              <a:t>8. Key Business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100" b="0" i="0">
                <a:solidFill>
                  <a:srgbClr val="677488"/>
                </a:solidFill>
                <a:latin typeface="Aptos"/>
              </a:rPr>
              <a:t>Summarize only findings supported by the actual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25296"/>
            <a:ext cx="960120" cy="50292"/>
          </a:xfrm>
          <a:prstGeom prst="rect">
            <a:avLst/>
          </a:prstGeom>
          <a:solidFill>
            <a:srgbClr val="1A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510528"/>
            <a:ext cx="502920" cy="1828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/>
            <a:r>
              <a:rPr sz="900" b="0" i="0">
                <a:solidFill>
                  <a:srgbClr val="677488"/>
                </a:solidFill>
                <a:latin typeface="Aptos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72768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682495"/>
            <a:ext cx="3136392" cy="29260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400" b="1" i="0">
                <a:solidFill>
                  <a:srgbClr val="2D68C4"/>
                </a:solidFill>
                <a:latin typeface="Aptos"/>
              </a:rPr>
              <a:t>REVENUE DRIVERS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011680"/>
            <a:ext cx="3136392" cy="905256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t>Top category: Electronics (₹50.78M).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72768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1682495"/>
            <a:ext cx="3136392" cy="29260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400" b="1" i="0">
                <a:solidFill>
                  <a:srgbClr val="1AA69A"/>
                </a:solidFill>
                <a:latin typeface="Aptos"/>
              </a:rPr>
              <a:t>CUSTOMER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5424" y="2011680"/>
            <a:ext cx="3136392" cy="905256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t>High-value segment: 340 customers; ₹92.74M sales.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72768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3024" y="1682495"/>
            <a:ext cx="3136392" cy="29260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400" b="1" i="0">
                <a:solidFill>
                  <a:srgbClr val="F2B233"/>
                </a:solidFill>
                <a:latin typeface="Aptos"/>
              </a:rPr>
              <a:t>STATISTICAL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3024" y="2011680"/>
            <a:ext cx="3136392" cy="905256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t>Gender t-test: p = 0.495; no statistically significant difference found.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429000"/>
            <a:ext cx="10241280" cy="3657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700" b="1" i="0">
                <a:solidFill>
                  <a:srgbClr val="12203A"/>
                </a:solidFill>
                <a:latin typeface="Aptos"/>
              </a:rPr>
              <a:t>Fill in these evidence-based statements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840480"/>
            <a:ext cx="10241280" cy="1508760"/>
          </a:xfrm>
          <a:prstGeom prst="rect">
            <a:avLst/>
          </a:prstGeom>
          <a:noFill/>
        </p:spPr>
        <p:txBody>
          <a:bodyPr wrap="square" lIns="137160" tIns="36576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273243"/>
                </a:solidFill>
                <a:latin typeface="Aptos"/>
              </a:defRPr>
            </a:pPr>
            <a:r>
              <a:t>The highest-revenue category was: [insert actual category].</a:t>
            </a:r>
          </a:p>
          <a:p>
            <a:pPr>
              <a:spcAft>
                <a:spcPts val="900"/>
              </a:spcAft>
              <a:defRPr sz="1400">
                <a:solidFill>
                  <a:srgbClr val="273243"/>
                </a:solidFill>
                <a:latin typeface="Aptos"/>
              </a:defRPr>
            </a:pPr>
            <a:r>
              <a:t>The leading product/city by revenue was: [insert actual result].</a:t>
            </a:r>
          </a:p>
          <a:p>
            <a:pPr>
              <a:spcAft>
                <a:spcPts val="900"/>
              </a:spcAft>
              <a:defRPr sz="1400">
                <a:solidFill>
                  <a:srgbClr val="273243"/>
                </a:solidFill>
                <a:latin typeface="Aptos"/>
              </a:defRPr>
            </a:pPr>
            <a:r>
              <a:t>The gender-group test showed: [significant / not statistically significant] difference.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60720"/>
            <a:ext cx="10332720" cy="4114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t>Association is not causation; findings apply to this dataset and should be monitored over 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486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  <a:latin typeface="Aptos"/>
              </a:rPr>
              <a:t>9. Recommendations &amp; Call to 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43000"/>
            <a:ext cx="1051560" cy="50292"/>
          </a:xfrm>
          <a:prstGeom prst="rect">
            <a:avLst/>
          </a:prstGeom>
          <a:solidFill>
            <a:srgbClr val="1AA6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594360" cy="3657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700" b="1" i="0">
                <a:solidFill>
                  <a:srgbClr val="F2B233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508760"/>
            <a:ext cx="9875520" cy="43891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ptos"/>
              </a:rPr>
              <a:t>Focus marketing on high-value customer segments.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58568"/>
            <a:ext cx="594360" cy="3657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700" b="1" i="0">
                <a:solidFill>
                  <a:srgbClr val="F2B233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258568"/>
            <a:ext cx="9875520" cy="43891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ptos"/>
              </a:rPr>
              <a:t>Prioritize products and categories with stronger observed revenue.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08376"/>
            <a:ext cx="594360" cy="3657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700" b="1" i="0">
                <a:solidFill>
                  <a:srgbClr val="F2B233"/>
                </a:solidFill>
                <a:latin typeface="Aptos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3008376"/>
            <a:ext cx="9875520" cy="43891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ptos"/>
              </a:rPr>
              <a:t>Use city-level results to design targeted local campaigns.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58183"/>
            <a:ext cx="594360" cy="3657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700" b="1" i="0">
                <a:solidFill>
                  <a:srgbClr val="F2B233"/>
                </a:solidFill>
                <a:latin typeface="Aptos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758183"/>
            <a:ext cx="9875520" cy="43891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ptos"/>
              </a:rPr>
              <a:t>Monitor revenue, orders and AOV through the Power BI dashboard.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507992"/>
            <a:ext cx="594360" cy="3657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700" b="1" i="0">
                <a:solidFill>
                  <a:srgbClr val="F2B233"/>
                </a:solidFill>
                <a:latin typeface="Aptos"/>
              </a:rP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4507992"/>
            <a:ext cx="9875520" cy="43891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ptos"/>
              </a:rPr>
              <a:t>Use statistical evidence before making major segment-based decisions.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23560"/>
            <a:ext cx="10607040" cy="6858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/>
            <a:r>
              <a:rPr sz="1400" b="1" i="0">
                <a:solidFill>
                  <a:srgbClr val="1AA69A"/>
                </a:solidFill>
                <a:latin typeface="Aptos"/>
              </a:rPr>
              <a:t>CALL TO ACTION  |  Turn insights into action through targeted marketing, continuous KPI monitoring and evidence-based decision-making.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